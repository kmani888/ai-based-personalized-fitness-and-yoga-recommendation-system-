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3" r:id="rId9"/>
    <p:sldId id="264" r:id="rId10"/>
    <p:sldId id="273" r:id="rId11"/>
    <p:sldId id="266" r:id="rId12"/>
    <p:sldId id="267" r:id="rId13"/>
    <p:sldId id="274" r:id="rId14"/>
    <p:sldId id="275" r:id="rId15"/>
    <p:sldId id="268" r:id="rId16"/>
    <p:sldId id="269" r:id="rId17"/>
    <p:sldId id="270" r:id="rId18"/>
    <p:sldId id="271" r:id="rId19"/>
  </p:sldIdLst>
  <p:sldSz cx="18288000" cy="10287000"/>
  <p:notesSz cx="6858000" cy="9144000"/>
  <p:embeddedFontLst>
    <p:embeddedFont>
      <p:font typeface="Canva Sans" panose="020B0604020202020204" charset="0"/>
      <p:regular r:id="rId20"/>
    </p:embeddedFont>
    <p:embeddedFont>
      <p:font typeface="Canva Sans Bold" panose="020B0604020202020204" charset="0"/>
      <p:regular r:id="rId21"/>
    </p:embeddedFont>
    <p:embeddedFont>
      <p:font typeface="Canva Sans Italics" panose="020B0604020202020204" charset="0"/>
      <p:regular r:id="rId22"/>
    </p:embeddedFont>
    <p:embeddedFont>
      <p:font typeface="Montserrat Light" panose="00000400000000000000" pitchFamily="2" charset="0"/>
      <p:regular r:id="rId23"/>
      <p:italic r:id="rId24"/>
    </p:embeddedFont>
    <p:embeddedFont>
      <p:font typeface="Norwester" panose="020B0604020202020204" charset="0"/>
      <p:regular r:id="rId25"/>
    </p:embeddedFont>
    <p:embeddedFont>
      <p:font typeface="Roboto" panose="02000000000000000000" pitchFamily="2" charset="0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A2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F52717-088A-4C85-9910-EE8A3155DBA8}" v="2" dt="2025-04-29T10:14:31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an inta" userId="c92d65de84ae4c72" providerId="LiveId" clId="{8FF52717-088A-4C85-9910-EE8A3155DBA8}"/>
    <pc:docChg chg="undo custSel modSld">
      <pc:chgData name="kiran inta" userId="c92d65de84ae4c72" providerId="LiveId" clId="{8FF52717-088A-4C85-9910-EE8A3155DBA8}" dt="2025-04-29T10:19:00.915" v="111" actId="1076"/>
      <pc:docMkLst>
        <pc:docMk/>
      </pc:docMkLst>
      <pc:sldChg chg="modSp mod">
        <pc:chgData name="kiran inta" userId="c92d65de84ae4c72" providerId="LiveId" clId="{8FF52717-088A-4C85-9910-EE8A3155DBA8}" dt="2025-04-29T10:13:53.098" v="61" actId="20577"/>
        <pc:sldMkLst>
          <pc:docMk/>
          <pc:sldMk cId="0" sldId="256"/>
        </pc:sldMkLst>
        <pc:spChg chg="mod">
          <ac:chgData name="kiran inta" userId="c92d65de84ae4c72" providerId="LiveId" clId="{8FF52717-088A-4C85-9910-EE8A3155DBA8}" dt="2025-04-29T10:13:53.098" v="61" actId="20577"/>
          <ac:spMkLst>
            <pc:docMk/>
            <pc:sldMk cId="0" sldId="256"/>
            <ac:spMk id="12" creationId="{00000000-0000-0000-0000-000000000000}"/>
          </ac:spMkLst>
        </pc:spChg>
      </pc:sldChg>
      <pc:sldChg chg="addSp delSp modSp mod">
        <pc:chgData name="kiran inta" userId="c92d65de84ae4c72" providerId="LiveId" clId="{8FF52717-088A-4C85-9910-EE8A3155DBA8}" dt="2025-04-29T10:19:00.915" v="111" actId="1076"/>
        <pc:sldMkLst>
          <pc:docMk/>
          <pc:sldMk cId="0" sldId="270"/>
        </pc:sldMkLst>
        <pc:spChg chg="add del mod">
          <ac:chgData name="kiran inta" userId="c92d65de84ae4c72" providerId="LiveId" clId="{8FF52717-088A-4C85-9910-EE8A3155DBA8}" dt="2025-04-29T10:14:23.138" v="67"/>
          <ac:spMkLst>
            <pc:docMk/>
            <pc:sldMk cId="0" sldId="270"/>
            <ac:spMk id="3" creationId="{C44411B5-DC89-76A1-DFD5-ACCF8FB7CAD7}"/>
          </ac:spMkLst>
        </pc:spChg>
        <pc:spChg chg="add mod">
          <ac:chgData name="kiran inta" userId="c92d65de84ae4c72" providerId="LiveId" clId="{8FF52717-088A-4C85-9910-EE8A3155DBA8}" dt="2025-04-29T10:18:52.779" v="110" actId="1076"/>
          <ac:spMkLst>
            <pc:docMk/>
            <pc:sldMk cId="0" sldId="270"/>
            <ac:spMk id="4" creationId="{90497D5F-1F99-4EED-3A29-2538C0C2FBB2}"/>
          </ac:spMkLst>
        </pc:spChg>
        <pc:spChg chg="mod">
          <ac:chgData name="kiran inta" userId="c92d65de84ae4c72" providerId="LiveId" clId="{8FF52717-088A-4C85-9910-EE8A3155DBA8}" dt="2025-04-29T10:19:00.915" v="111" actId="1076"/>
          <ac:spMkLst>
            <pc:docMk/>
            <pc:sldMk cId="0" sldId="270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tartling-gingersnap-ddffc8.netlify.app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3649" y="502276"/>
            <a:ext cx="1250101" cy="1666802"/>
          </a:xfrm>
          <a:custGeom>
            <a:avLst/>
            <a:gdLst/>
            <a:ahLst/>
            <a:cxnLst/>
            <a:rect l="l" t="t" r="r" b="b"/>
            <a:pathLst>
              <a:path w="1250101" h="1666802">
                <a:moveTo>
                  <a:pt x="0" y="0"/>
                </a:moveTo>
                <a:lnTo>
                  <a:pt x="1250102" y="0"/>
                </a:lnTo>
                <a:lnTo>
                  <a:pt x="1250102" y="1666802"/>
                </a:lnTo>
                <a:lnTo>
                  <a:pt x="0" y="1666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03649" y="9382188"/>
            <a:ext cx="13376598" cy="688726"/>
          </a:xfrm>
          <a:custGeom>
            <a:avLst/>
            <a:gdLst/>
            <a:ahLst/>
            <a:cxnLst/>
            <a:rect l="l" t="t" r="r" b="b"/>
            <a:pathLst>
              <a:path w="13376598" h="688726">
                <a:moveTo>
                  <a:pt x="0" y="0"/>
                </a:moveTo>
                <a:lnTo>
                  <a:pt x="13376598" y="0"/>
                </a:lnTo>
                <a:lnTo>
                  <a:pt x="13376598" y="688726"/>
                </a:lnTo>
                <a:lnTo>
                  <a:pt x="0" y="6887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152765" y="2044571"/>
            <a:ext cx="16482670" cy="2806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6000" b="1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FitMind AI – AI Based Fitness Application</a:t>
            </a:r>
          </a:p>
          <a:p>
            <a:pPr>
              <a:buNone/>
            </a:pPr>
            <a:br>
              <a:rPr lang="en-US" sz="6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60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073527" y="3470531"/>
            <a:ext cx="12184261" cy="514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1" dirty="0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Submitted in the partial fulfillment for the award of the degree of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38400" y="4416183"/>
            <a:ext cx="12420600" cy="1817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BACHELOR OF ENGINEERING</a:t>
            </a:r>
          </a:p>
          <a:p>
            <a:pPr algn="ctr">
              <a:lnSpc>
                <a:spcPts val="4900"/>
              </a:lnSpc>
            </a:pPr>
            <a:r>
              <a:rPr lang="en-US" sz="35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</a:t>
            </a:r>
          </a:p>
          <a:p>
            <a:pPr algn="ctr">
              <a:lnSpc>
                <a:spcPts val="4760"/>
              </a:lnSpc>
            </a:pPr>
            <a:r>
              <a:rPr lang="en-US" sz="34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AIT-CSE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87200" y="7581294"/>
            <a:ext cx="5538785" cy="967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06"/>
              </a:lnSpc>
            </a:pPr>
            <a:r>
              <a:rPr lang="en-US" sz="279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Under the supervision of:</a:t>
            </a:r>
            <a:br>
              <a:rPr lang="en-US" sz="279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</a:br>
            <a:r>
              <a:rPr lang="en-IN" sz="2800" b="1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Priyanka Kaushik Mam</a:t>
            </a:r>
            <a:endParaRPr lang="en-US" sz="279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69567" y="7243637"/>
            <a:ext cx="7174872" cy="2088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10"/>
              </a:lnSpc>
            </a:pPr>
            <a:r>
              <a:rPr lang="en-US" sz="236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Submitted by:</a:t>
            </a:r>
          </a:p>
          <a:p>
            <a:pPr algn="just">
              <a:lnSpc>
                <a:spcPts val="3310"/>
              </a:lnSpc>
            </a:pPr>
            <a:r>
              <a:rPr lang="en-US" sz="236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Manikanta Chari                       [21BCS9709]</a:t>
            </a:r>
          </a:p>
          <a:p>
            <a:pPr algn="just">
              <a:lnSpc>
                <a:spcPts val="3310"/>
              </a:lnSpc>
            </a:pPr>
            <a:r>
              <a:rPr lang="en-US" sz="236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KiranReddy I                              [21BCS9707]</a:t>
            </a:r>
          </a:p>
          <a:p>
            <a:pPr algn="just">
              <a:lnSpc>
                <a:spcPts val="3310"/>
              </a:lnSpc>
            </a:pPr>
            <a:r>
              <a:rPr lang="en-US" sz="236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Vishal D                                       [21BCS9684]</a:t>
            </a:r>
          </a:p>
          <a:p>
            <a:pPr algn="just">
              <a:lnSpc>
                <a:spcPts val="3310"/>
              </a:lnSpc>
            </a:pPr>
            <a:r>
              <a:rPr lang="en-US" sz="236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Hemanth P                                    [21BCS9684]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3649" y="502276"/>
            <a:ext cx="1250101" cy="1666802"/>
          </a:xfrm>
          <a:custGeom>
            <a:avLst/>
            <a:gdLst/>
            <a:ahLst/>
            <a:cxnLst/>
            <a:rect l="l" t="t" r="r" b="b"/>
            <a:pathLst>
              <a:path w="1250101" h="1666802">
                <a:moveTo>
                  <a:pt x="0" y="0"/>
                </a:moveTo>
                <a:lnTo>
                  <a:pt x="1250102" y="0"/>
                </a:lnTo>
                <a:lnTo>
                  <a:pt x="1250102" y="1666802"/>
                </a:lnTo>
                <a:lnTo>
                  <a:pt x="0" y="1666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-2438400" y="809579"/>
            <a:ext cx="17604175" cy="1052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Outline of the Presentation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87668" y="2823083"/>
            <a:ext cx="12412275" cy="6915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11" lvl="1" indent="-323856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Title</a:t>
            </a:r>
          </a:p>
          <a:p>
            <a:pPr marL="647711" lvl="1" indent="-323856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Introduction to Project</a:t>
            </a:r>
          </a:p>
          <a:p>
            <a:pPr marL="647711" lvl="1" indent="-323856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Problem Formulation</a:t>
            </a:r>
          </a:p>
          <a:p>
            <a:pPr marL="647711" lvl="1" indent="-323856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Objectives of the work </a:t>
            </a:r>
          </a:p>
          <a:p>
            <a:pPr marL="647711" lvl="1" indent="-323856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Methodology used</a:t>
            </a:r>
          </a:p>
          <a:p>
            <a:pPr marL="647711" lvl="1" indent="-323856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Implementation and Planning </a:t>
            </a:r>
          </a:p>
          <a:p>
            <a:pPr marL="647711" lvl="1" indent="-323856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Preliminary Design</a:t>
            </a:r>
          </a:p>
          <a:p>
            <a:pPr marL="647711" lvl="1" indent="-323856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Analysis of Features</a:t>
            </a:r>
          </a:p>
          <a:p>
            <a:pPr marL="647711" lvl="1" indent="-323856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Results and Outputs</a:t>
            </a:r>
          </a:p>
          <a:p>
            <a:pPr marL="647711" lvl="1" indent="-323856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Conclusion</a:t>
            </a:r>
          </a:p>
          <a:p>
            <a:pPr marL="647711" lvl="1" indent="-323856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Future Scope</a:t>
            </a:r>
          </a:p>
          <a:p>
            <a:pPr marL="647711" lvl="1" indent="-323856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References</a:t>
            </a:r>
          </a:p>
          <a:p>
            <a:pPr algn="just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3649" y="502276"/>
            <a:ext cx="1250101" cy="1666802"/>
          </a:xfrm>
          <a:custGeom>
            <a:avLst/>
            <a:gdLst/>
            <a:ahLst/>
            <a:cxnLst/>
            <a:rect l="l" t="t" r="r" b="b"/>
            <a:pathLst>
              <a:path w="1250101" h="1666802">
                <a:moveTo>
                  <a:pt x="0" y="0"/>
                </a:moveTo>
                <a:lnTo>
                  <a:pt x="1250102" y="0"/>
                </a:lnTo>
                <a:lnTo>
                  <a:pt x="1250102" y="1666802"/>
                </a:lnTo>
                <a:lnTo>
                  <a:pt x="0" y="1666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241268" y="2643712"/>
            <a:ext cx="8340539" cy="6252272"/>
            <a:chOff x="0" y="114300"/>
            <a:chExt cx="11120719" cy="8336362"/>
          </a:xfrm>
        </p:grpSpPr>
        <p:sp>
          <p:nvSpPr>
            <p:cNvPr id="9" name="TextBox 9"/>
            <p:cNvSpPr txBox="1"/>
            <p:nvPr/>
          </p:nvSpPr>
          <p:spPr>
            <a:xfrm>
              <a:off x="0" y="114300"/>
              <a:ext cx="11120719" cy="29067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521"/>
                </a:lnSpc>
              </a:pPr>
              <a:endParaRPr dirty="0"/>
            </a:p>
            <a:p>
              <a:pPr algn="l">
                <a:lnSpc>
                  <a:spcPts val="8521"/>
                </a:lnSpc>
              </a:pPr>
              <a:endParaRPr lang="en-US" sz="8115" spc="162" dirty="0">
                <a:solidFill>
                  <a:srgbClr val="943831"/>
                </a:solidFill>
                <a:latin typeface="Norwester"/>
                <a:ea typeface="Norwester"/>
                <a:cs typeface="Norwester"/>
                <a:sym typeface="Norwester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8171246"/>
              <a:ext cx="11120719" cy="2794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1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-304800" y="8791203"/>
            <a:ext cx="17933395" cy="273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8"/>
              </a:lnSpc>
            </a:pPr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1653750" y="1053942"/>
            <a:ext cx="1961447" cy="881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59"/>
              </a:lnSpc>
            </a:pPr>
            <a:r>
              <a:rPr lang="en-US" sz="5185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Title:</a:t>
            </a:r>
          </a:p>
        </p:txBody>
      </p:sp>
      <p:pic>
        <p:nvPicPr>
          <p:cNvPr id="14" name="Picture 13">
            <a:hlinkClick r:id="rId3"/>
            <a:extLst>
              <a:ext uri="{FF2B5EF4-FFF2-40B4-BE49-F238E27FC236}">
                <a16:creationId xmlns:a16="http://schemas.microsoft.com/office/drawing/2014/main" id="{EA839279-15D1-97A7-6F09-195920BC7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891740"/>
            <a:ext cx="1500071" cy="132359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E84B366-3864-3746-F7B8-0EA5489F798B}"/>
              </a:ext>
            </a:extLst>
          </p:cNvPr>
          <p:cNvSpPr txBox="1"/>
          <p:nvPr/>
        </p:nvSpPr>
        <p:spPr>
          <a:xfrm>
            <a:off x="2362200" y="3914771"/>
            <a:ext cx="5562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  <a:highlight>
                  <a:srgbClr val="0EA286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IN" sz="8000" b="1" dirty="0">
                <a:solidFill>
                  <a:schemeClr val="bg1"/>
                </a:solidFill>
                <a:highlight>
                  <a:srgbClr val="0EA286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itMind</a:t>
            </a:r>
            <a:r>
              <a:rPr lang="en-IN" sz="7200" b="1" dirty="0">
                <a:solidFill>
                  <a:schemeClr val="bg1"/>
                </a:solidFill>
                <a:highlight>
                  <a:srgbClr val="0EA286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</a:t>
            </a:r>
            <a:endParaRPr lang="en-IN" sz="7200" dirty="0">
              <a:solidFill>
                <a:schemeClr val="bg1"/>
              </a:solidFill>
              <a:highlight>
                <a:srgbClr val="0EA286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7DCA8F-FCAD-D80A-93C7-F3F21277292F}"/>
              </a:ext>
            </a:extLst>
          </p:cNvPr>
          <p:cNvSpPr txBox="1"/>
          <p:nvPr/>
        </p:nvSpPr>
        <p:spPr>
          <a:xfrm>
            <a:off x="1105573" y="5570246"/>
            <a:ext cx="9384565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i="0" dirty="0">
                <a:solidFill>
                  <a:srgbClr val="0EA28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Based Fitness Application</a:t>
            </a:r>
          </a:p>
          <a:p>
            <a:pPr>
              <a:buNone/>
            </a:pPr>
            <a:br>
              <a:rPr lang="en-US" sz="5400" b="0" i="0" dirty="0">
                <a:solidFill>
                  <a:srgbClr val="0EA28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5400" b="1" dirty="0">
              <a:solidFill>
                <a:srgbClr val="0EA286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  <a:p>
            <a:endParaRPr lang="en-IN" sz="6000" dirty="0">
              <a:solidFill>
                <a:srgbClr val="0EA28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3649" y="502276"/>
            <a:ext cx="1250101" cy="1666802"/>
          </a:xfrm>
          <a:custGeom>
            <a:avLst/>
            <a:gdLst/>
            <a:ahLst/>
            <a:cxnLst/>
            <a:rect l="l" t="t" r="r" b="b"/>
            <a:pathLst>
              <a:path w="1250101" h="1666802">
                <a:moveTo>
                  <a:pt x="0" y="0"/>
                </a:moveTo>
                <a:lnTo>
                  <a:pt x="1250102" y="0"/>
                </a:lnTo>
                <a:lnTo>
                  <a:pt x="1250102" y="1666802"/>
                </a:lnTo>
                <a:lnTo>
                  <a:pt x="0" y="1666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1524000" y="800100"/>
            <a:ext cx="11653594" cy="1052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6F1345-AEA4-DFBC-C530-086AF6617B20}"/>
              </a:ext>
            </a:extLst>
          </p:cNvPr>
          <p:cNvSpPr txBox="1"/>
          <p:nvPr/>
        </p:nvSpPr>
        <p:spPr>
          <a:xfrm>
            <a:off x="609600" y="2859373"/>
            <a:ext cx="118872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/>
              <a:t>FitMind AI simplifies fitness planning with personalized recommendations.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/>
              <a:t>Focuses on health goals, consistency, and daily motivation.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/>
              <a:t>Bridges traditional workout routines with modern digital experiences.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/>
              <a:t>Designed for beginners to experts, making fitness easier and more enjoyable.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/>
              <a:t>Offers clear daily workout suggestions based on user preferences and progress.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/>
              <a:t>Promotes a balanced approach to fitness by including strength, cardio, and flexibility exercises.</a:t>
            </a:r>
            <a:endParaRPr lang="en-IN" sz="28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7EE6A8F-AB93-CCFD-7E39-D69115C2AB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28" t="8762" r="17149" b="4385"/>
          <a:stretch/>
        </p:blipFill>
        <p:spPr>
          <a:xfrm>
            <a:off x="12954000" y="4076700"/>
            <a:ext cx="4536356" cy="26263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3649" y="502276"/>
            <a:ext cx="1250101" cy="1666802"/>
          </a:xfrm>
          <a:custGeom>
            <a:avLst/>
            <a:gdLst/>
            <a:ahLst/>
            <a:cxnLst/>
            <a:rect l="l" t="t" r="r" b="b"/>
            <a:pathLst>
              <a:path w="1250101" h="1666802">
                <a:moveTo>
                  <a:pt x="0" y="0"/>
                </a:moveTo>
                <a:lnTo>
                  <a:pt x="1250102" y="0"/>
                </a:lnTo>
                <a:lnTo>
                  <a:pt x="1250102" y="1666802"/>
                </a:lnTo>
                <a:lnTo>
                  <a:pt x="0" y="1666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28800" y="809556"/>
            <a:ext cx="11918700" cy="1052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77"/>
              </a:lnSpc>
            </a:pPr>
            <a:r>
              <a:rPr lang="en-US" sz="6198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formulation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53750" y="2705100"/>
            <a:ext cx="14478000" cy="4494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5073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People find it hard to plan their fitness journey properly.</a:t>
            </a:r>
          </a:p>
          <a:p>
            <a:pPr marL="342900" indent="-342900" algn="l">
              <a:lnSpc>
                <a:spcPts val="5073"/>
              </a:lnSpc>
              <a:buFont typeface="Wingdings" panose="05000000000000000000" pitchFamily="2" charset="2"/>
              <a:buChar char="v"/>
            </a:pPr>
            <a:endParaRPr lang="en-US" sz="24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342900" indent="-342900" algn="l">
              <a:lnSpc>
                <a:spcPts val="5073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Most fitness advice is the same for everyone and doesn't suit individual needs.</a:t>
            </a:r>
          </a:p>
          <a:p>
            <a:pPr marL="342900" indent="-342900" algn="l">
              <a:lnSpc>
                <a:spcPts val="5073"/>
              </a:lnSpc>
              <a:buFont typeface="Wingdings" panose="05000000000000000000" pitchFamily="2" charset="2"/>
              <a:buChar char="v"/>
            </a:pPr>
            <a:endParaRPr lang="en-US" sz="2400" dirty="0">
              <a:solidFill>
                <a:srgbClr val="000000"/>
              </a:solidFill>
              <a:ea typeface="Canva Sans"/>
              <a:cs typeface="Canva Sans"/>
              <a:sym typeface="Canva Sans"/>
            </a:endParaRPr>
          </a:p>
          <a:p>
            <a:pPr marL="342900" indent="-342900" algn="l">
              <a:lnSpc>
                <a:spcPts val="5073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Many users lose interest because workouts are not matched to their goals.</a:t>
            </a:r>
          </a:p>
          <a:p>
            <a:pPr marL="342900" indent="-342900" algn="l">
              <a:lnSpc>
                <a:spcPts val="5073"/>
              </a:lnSpc>
              <a:buFont typeface="Wingdings" panose="05000000000000000000" pitchFamily="2" charset="2"/>
              <a:buChar char="v"/>
            </a:pPr>
            <a:endParaRPr lang="en-US" sz="24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342900" indent="-342900" algn="l">
              <a:lnSpc>
                <a:spcPts val="5073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FitMind AI helps by giving simple, personalized workout plans for everyone.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3649" y="502276"/>
            <a:ext cx="1250101" cy="1666802"/>
          </a:xfrm>
          <a:custGeom>
            <a:avLst/>
            <a:gdLst/>
            <a:ahLst/>
            <a:cxnLst/>
            <a:rect l="l" t="t" r="r" b="b"/>
            <a:pathLst>
              <a:path w="1250101" h="1666802">
                <a:moveTo>
                  <a:pt x="0" y="0"/>
                </a:moveTo>
                <a:lnTo>
                  <a:pt x="1250102" y="0"/>
                </a:lnTo>
                <a:lnTo>
                  <a:pt x="1250102" y="1666802"/>
                </a:lnTo>
                <a:lnTo>
                  <a:pt x="0" y="1666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19400" y="2476500"/>
            <a:ext cx="12877800" cy="3854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5093"/>
              </a:lnSpc>
              <a:buFont typeface="Wingdings" panose="05000000000000000000" pitchFamily="2" charset="2"/>
              <a:buChar char="ü"/>
            </a:pPr>
            <a:r>
              <a:rPr lang="en-US" sz="2800" dirty="0"/>
              <a:t>⁠ ⁠To create an easy-to-use fitness planning platform for all users.</a:t>
            </a:r>
          </a:p>
          <a:p>
            <a:pPr marL="342900" indent="-342900" algn="l">
              <a:lnSpc>
                <a:spcPts val="5093"/>
              </a:lnSpc>
              <a:buFont typeface="Wingdings" panose="05000000000000000000" pitchFamily="2" charset="2"/>
              <a:buChar char="ü"/>
            </a:pPr>
            <a:r>
              <a:rPr lang="en-US" sz="2800" dirty="0"/>
              <a:t> ⁠To provide daily workout and health recommendations based on personal details.</a:t>
            </a:r>
          </a:p>
          <a:p>
            <a:pPr marL="342900" indent="-342900" algn="l">
              <a:lnSpc>
                <a:spcPts val="5093"/>
              </a:lnSpc>
              <a:buFont typeface="Wingdings" panose="05000000000000000000" pitchFamily="2" charset="2"/>
              <a:buChar char="ü"/>
            </a:pPr>
            <a:r>
              <a:rPr lang="en-US" sz="2800" dirty="0"/>
              <a:t>⁠To track fitness progress with simple dashboards and easy-to-read charts.</a:t>
            </a:r>
          </a:p>
          <a:p>
            <a:pPr marL="342900" indent="-342900" algn="l">
              <a:lnSpc>
                <a:spcPts val="5093"/>
              </a:lnSpc>
              <a:buFont typeface="Wingdings" panose="05000000000000000000" pitchFamily="2" charset="2"/>
              <a:buChar char="ü"/>
            </a:pPr>
            <a:r>
              <a:rPr lang="en-US" sz="2800" dirty="0"/>
              <a:t>⁠To offer a variety of exercises, including cardio, strength, and flexibility routines.</a:t>
            </a:r>
          </a:p>
          <a:p>
            <a:pPr marL="342900" indent="-342900" algn="l">
              <a:lnSpc>
                <a:spcPts val="5093"/>
              </a:lnSpc>
              <a:buFont typeface="Wingdings" panose="05000000000000000000" pitchFamily="2" charset="2"/>
              <a:buChar char="ü"/>
            </a:pPr>
            <a:r>
              <a:rPr lang="en-US" sz="2800" dirty="0"/>
              <a:t> ⁠To help users stay motivated with clear goals and consistency tracking.</a:t>
            </a:r>
          </a:p>
          <a:p>
            <a:pPr marL="342900" indent="-342900" algn="l">
              <a:lnSpc>
                <a:spcPts val="5093"/>
              </a:lnSpc>
              <a:buFont typeface="Wingdings" panose="05000000000000000000" pitchFamily="2" charset="2"/>
              <a:buChar char="ü"/>
            </a:pPr>
            <a:r>
              <a:rPr lang="en-US" sz="2800" dirty="0"/>
              <a:t> To make fitness accessible for beginners and supportive for experienced users.</a:t>
            </a:r>
            <a:endParaRPr lang="en-US" sz="2800" dirty="0"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209800" y="809556"/>
            <a:ext cx="11918700" cy="1052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77"/>
              </a:lnSpc>
            </a:pPr>
            <a:r>
              <a:rPr lang="en-US" sz="6198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1983D6-80A2-716A-143B-1F8F3924B34E}"/>
              </a:ext>
            </a:extLst>
          </p:cNvPr>
          <p:cNvSpPr txBox="1"/>
          <p:nvPr/>
        </p:nvSpPr>
        <p:spPr>
          <a:xfrm>
            <a:off x="1828800" y="827845"/>
            <a:ext cx="15544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METHODOLOGY</a:t>
            </a:r>
            <a:endParaRPr lang="en-IN" sz="6000" b="1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C8FB2C-BAE8-8F02-FED0-882697000A42}"/>
              </a:ext>
            </a:extLst>
          </p:cNvPr>
          <p:cNvSpPr/>
          <p:nvPr/>
        </p:nvSpPr>
        <p:spPr>
          <a:xfrm>
            <a:off x="403649" y="502276"/>
            <a:ext cx="1250101" cy="1666802"/>
          </a:xfrm>
          <a:custGeom>
            <a:avLst/>
            <a:gdLst/>
            <a:ahLst/>
            <a:cxnLst/>
            <a:rect l="l" t="t" r="r" b="b"/>
            <a:pathLst>
              <a:path w="1250101" h="1666802">
                <a:moveTo>
                  <a:pt x="0" y="0"/>
                </a:moveTo>
                <a:lnTo>
                  <a:pt x="1250102" y="0"/>
                </a:lnTo>
                <a:lnTo>
                  <a:pt x="1250102" y="1666802"/>
                </a:lnTo>
                <a:lnTo>
                  <a:pt x="0" y="1666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E02A81-612D-7BB9-F47C-A36B42CAFF55}"/>
              </a:ext>
            </a:extLst>
          </p:cNvPr>
          <p:cNvSpPr txBox="1"/>
          <p:nvPr/>
        </p:nvSpPr>
        <p:spPr>
          <a:xfrm>
            <a:off x="1653750" y="2169078"/>
            <a:ext cx="7109250" cy="655564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800" dirty="0"/>
              <a:t>User Login/Signup</a:t>
            </a:r>
          </a:p>
          <a:p>
            <a:r>
              <a:rPr lang="en-IN" sz="2800" dirty="0"/>
              <a:t>                                        ↓</a:t>
            </a:r>
          </a:p>
          <a:p>
            <a:endParaRPr lang="en-IN" sz="2800" dirty="0"/>
          </a:p>
          <a:p>
            <a:r>
              <a:rPr lang="en-IN" sz="2800" dirty="0"/>
              <a:t>                                        ↓</a:t>
            </a:r>
          </a:p>
          <a:p>
            <a:endParaRPr lang="en-IN" sz="2800" dirty="0"/>
          </a:p>
          <a:p>
            <a:r>
              <a:rPr lang="en-IN" sz="2800" dirty="0"/>
              <a:t>                                        ↓</a:t>
            </a:r>
          </a:p>
          <a:p>
            <a:endParaRPr lang="en-IN" sz="2800" dirty="0"/>
          </a:p>
          <a:p>
            <a:r>
              <a:rPr lang="en-IN" sz="2800" dirty="0"/>
              <a:t>                                        ↓</a:t>
            </a:r>
          </a:p>
          <a:p>
            <a:endParaRPr lang="en-IN" sz="2800" dirty="0"/>
          </a:p>
          <a:p>
            <a:r>
              <a:rPr lang="en-IN" sz="2800" dirty="0"/>
              <a:t>                                        ↓</a:t>
            </a:r>
          </a:p>
          <a:p>
            <a:endParaRPr lang="en-IN" sz="2800" dirty="0"/>
          </a:p>
          <a:p>
            <a:r>
              <a:rPr lang="en-IN" sz="2800" dirty="0"/>
              <a:t>                                        ↓</a:t>
            </a:r>
          </a:p>
          <a:p>
            <a:endParaRPr lang="en-IN" sz="2800" dirty="0"/>
          </a:p>
          <a:p>
            <a:r>
              <a:rPr lang="en-IN" sz="2800" dirty="0"/>
              <a:t>                                        ↓</a:t>
            </a:r>
          </a:p>
          <a:p>
            <a:endParaRPr lang="en-IN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FFDA81-4ED8-6598-2FB2-EDA8801975DC}"/>
              </a:ext>
            </a:extLst>
          </p:cNvPr>
          <p:cNvSpPr/>
          <p:nvPr/>
        </p:nvSpPr>
        <p:spPr>
          <a:xfrm>
            <a:off x="1653750" y="2164905"/>
            <a:ext cx="7109250" cy="5069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USER LOGIN / SIGN UP</a:t>
            </a:r>
            <a:endParaRPr lang="en-IN" sz="24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B96BC2-854B-F02D-8EF1-611981233E4B}"/>
              </a:ext>
            </a:extLst>
          </p:cNvPr>
          <p:cNvSpPr/>
          <p:nvPr/>
        </p:nvSpPr>
        <p:spPr>
          <a:xfrm>
            <a:off x="1653750" y="3033535"/>
            <a:ext cx="7109250" cy="47918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400" b="1" dirty="0"/>
              <a:t>Collect User Details (Age, Gender, Goals, Fitness Level)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BB1306-2183-5980-C709-706784D0DB87}"/>
              </a:ext>
            </a:extLst>
          </p:cNvPr>
          <p:cNvSpPr/>
          <p:nvPr/>
        </p:nvSpPr>
        <p:spPr>
          <a:xfrm>
            <a:off x="1653750" y="3861850"/>
            <a:ext cx="7109250" cy="45152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400" b="1" dirty="0"/>
          </a:p>
          <a:p>
            <a:pPr algn="ctr"/>
            <a:r>
              <a:rPr lang="en-IN" sz="2400" b="1" dirty="0"/>
              <a:t>Analyse User Inputs</a:t>
            </a:r>
          </a:p>
          <a:p>
            <a:r>
              <a:rPr lang="en-IN" sz="2400" b="1" dirty="0"/>
              <a:t>                                         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8024FA-0752-19DB-8623-B5ECE4C73836}"/>
              </a:ext>
            </a:extLst>
          </p:cNvPr>
          <p:cNvSpPr/>
          <p:nvPr/>
        </p:nvSpPr>
        <p:spPr>
          <a:xfrm>
            <a:off x="1653750" y="5567710"/>
            <a:ext cx="7109250" cy="53602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400" b="1" dirty="0"/>
          </a:p>
          <a:p>
            <a:pPr algn="ctr"/>
            <a:r>
              <a:rPr lang="en-IN" sz="2400" b="1" dirty="0"/>
              <a:t>Display Daily/Weekly Workout Routine</a:t>
            </a:r>
          </a:p>
          <a:p>
            <a:pPr algn="ctr"/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64FB8B-A0BB-61C9-86F7-372D07654E66}"/>
              </a:ext>
            </a:extLst>
          </p:cNvPr>
          <p:cNvSpPr/>
          <p:nvPr/>
        </p:nvSpPr>
        <p:spPr>
          <a:xfrm>
            <a:off x="1653750" y="6429302"/>
            <a:ext cx="7109250" cy="53602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400" b="1" dirty="0"/>
          </a:p>
          <a:p>
            <a:pPr algn="ctr"/>
            <a:r>
              <a:rPr lang="en-IN" sz="2400" b="1" dirty="0"/>
              <a:t>Track Progress and Update Dashboard</a:t>
            </a:r>
          </a:p>
          <a:p>
            <a:pPr algn="ctr"/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CA4D9F-FF5D-3C99-90CE-9A7B4911A11E}"/>
              </a:ext>
            </a:extLst>
          </p:cNvPr>
          <p:cNvSpPr/>
          <p:nvPr/>
        </p:nvSpPr>
        <p:spPr>
          <a:xfrm>
            <a:off x="1653750" y="7290894"/>
            <a:ext cx="7109250" cy="53602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400" b="1" dirty="0"/>
          </a:p>
          <a:p>
            <a:pPr algn="ctr"/>
            <a:r>
              <a:rPr lang="en-IN" sz="2400" b="1" dirty="0"/>
              <a:t>Provide Daily Motivation and Tips</a:t>
            </a:r>
          </a:p>
          <a:p>
            <a:pPr algn="ctr"/>
            <a:endParaRPr lang="en-IN" sz="24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3478BD-B144-B49B-18DF-AA7EB13F61DB}"/>
              </a:ext>
            </a:extLst>
          </p:cNvPr>
          <p:cNvSpPr/>
          <p:nvPr/>
        </p:nvSpPr>
        <p:spPr>
          <a:xfrm>
            <a:off x="1653750" y="8193891"/>
            <a:ext cx="7109250" cy="53602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400" b="1" dirty="0"/>
          </a:p>
          <a:p>
            <a:pPr algn="ctr"/>
            <a:r>
              <a:rPr lang="en-IN" sz="2400" b="1" dirty="0"/>
              <a:t>User Feedback and Plan Adjustment</a:t>
            </a:r>
          </a:p>
          <a:p>
            <a:pPr algn="ctr"/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0401D5-B0D2-D706-B71B-44B72996C723}"/>
              </a:ext>
            </a:extLst>
          </p:cNvPr>
          <p:cNvSpPr/>
          <p:nvPr/>
        </p:nvSpPr>
        <p:spPr>
          <a:xfrm>
            <a:off x="1653750" y="4765200"/>
            <a:ext cx="7109250" cy="47693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400" b="1" dirty="0"/>
          </a:p>
          <a:p>
            <a:pPr algn="ctr"/>
            <a:r>
              <a:rPr lang="en-IN" sz="2400" b="1" dirty="0"/>
              <a:t>Generate Personalized Fitness Plan</a:t>
            </a:r>
          </a:p>
          <a:p>
            <a:pPr algn="ctr"/>
            <a:r>
              <a:rPr lang="en-IN" sz="2400" b="1" dirty="0"/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236289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3649" y="307968"/>
            <a:ext cx="892259" cy="1189679"/>
          </a:xfrm>
          <a:custGeom>
            <a:avLst/>
            <a:gdLst/>
            <a:ahLst/>
            <a:cxnLst/>
            <a:rect l="l" t="t" r="r" b="b"/>
            <a:pathLst>
              <a:path w="892259" h="1189679">
                <a:moveTo>
                  <a:pt x="0" y="0"/>
                </a:moveTo>
                <a:lnTo>
                  <a:pt x="892260" y="0"/>
                </a:lnTo>
                <a:lnTo>
                  <a:pt x="892260" y="1189680"/>
                </a:lnTo>
                <a:lnTo>
                  <a:pt x="0" y="1189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ECCB5A-81D0-48A9-548A-550087293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576263"/>
            <a:ext cx="16010467" cy="90058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3649" y="502276"/>
            <a:ext cx="1250101" cy="1666802"/>
          </a:xfrm>
          <a:custGeom>
            <a:avLst/>
            <a:gdLst/>
            <a:ahLst/>
            <a:cxnLst/>
            <a:rect l="l" t="t" r="r" b="b"/>
            <a:pathLst>
              <a:path w="1250101" h="1666802">
                <a:moveTo>
                  <a:pt x="0" y="0"/>
                </a:moveTo>
                <a:lnTo>
                  <a:pt x="1250102" y="0"/>
                </a:lnTo>
                <a:lnTo>
                  <a:pt x="1250102" y="1666802"/>
                </a:lnTo>
                <a:lnTo>
                  <a:pt x="0" y="1666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506200" y="3009900"/>
            <a:ext cx="5673945" cy="4907963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447800" y="2837777"/>
            <a:ext cx="9372600" cy="5252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5157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000000"/>
                </a:solidFill>
                <a:ea typeface="Montserrat Light"/>
                <a:cs typeface="Times New Roman" panose="02020603050405020304" pitchFamily="18" charset="0"/>
                <a:sym typeface="Montserrat Light"/>
              </a:rPr>
              <a:t> ⁠Design a user-friendly and attractive web interface.</a:t>
            </a:r>
          </a:p>
          <a:p>
            <a:pPr marL="342900" indent="-342900" algn="just">
              <a:lnSpc>
                <a:spcPts val="5157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000000"/>
                </a:solidFill>
                <a:ea typeface="Montserrat Light"/>
                <a:cs typeface="Times New Roman" panose="02020603050405020304" pitchFamily="18" charset="0"/>
                <a:sym typeface="Montserrat Light"/>
              </a:rPr>
              <a:t> ⁠Develop modules for user login, profile creation, and data input.</a:t>
            </a:r>
          </a:p>
          <a:p>
            <a:pPr marL="342900" indent="-342900" algn="just">
              <a:lnSpc>
                <a:spcPts val="5157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000000"/>
                </a:solidFill>
                <a:ea typeface="Montserrat Light"/>
                <a:cs typeface="Times New Roman" panose="02020603050405020304" pitchFamily="18" charset="0"/>
                <a:sym typeface="Montserrat Light"/>
              </a:rPr>
              <a:t> ⁠Implement personalized fitness plan generation logic.</a:t>
            </a:r>
          </a:p>
          <a:p>
            <a:pPr marL="342900" indent="-342900" algn="just">
              <a:lnSpc>
                <a:spcPts val="5157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000000"/>
                </a:solidFill>
                <a:ea typeface="Montserrat Light"/>
                <a:cs typeface="Times New Roman" panose="02020603050405020304" pitchFamily="18" charset="0"/>
                <a:sym typeface="Montserrat Light"/>
              </a:rPr>
              <a:t> ⁠Set up a backend server and database to store user data securely.</a:t>
            </a:r>
          </a:p>
          <a:p>
            <a:pPr marL="342900" indent="-342900" algn="just">
              <a:lnSpc>
                <a:spcPts val="5157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000000"/>
                </a:solidFill>
                <a:ea typeface="Montserrat Light"/>
                <a:cs typeface="Times New Roman" panose="02020603050405020304" pitchFamily="18" charset="0"/>
                <a:sym typeface="Montserrat Light"/>
              </a:rPr>
              <a:t> ⁠Integrate progress tracking and daily motivation features.</a:t>
            </a:r>
          </a:p>
          <a:p>
            <a:pPr marL="342900" indent="-342900" algn="just">
              <a:lnSpc>
                <a:spcPts val="5157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000000"/>
                </a:solidFill>
                <a:ea typeface="Montserrat Light"/>
                <a:cs typeface="Times New Roman" panose="02020603050405020304" pitchFamily="18" charset="0"/>
                <a:sym typeface="Montserrat Light"/>
              </a:rPr>
              <a:t> ⁠Conduct testing, gather feedback, and make improvements.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304800" y="809579"/>
            <a:ext cx="15893143" cy="1052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Implementation and planning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2B91C-78F4-5744-17C2-3C4B2632E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539546"/>
            <a:ext cx="11887200" cy="1592262"/>
          </a:xfrm>
        </p:spPr>
        <p:txBody>
          <a:bodyPr>
            <a:normAutofit/>
          </a:bodyPr>
          <a:lstStyle/>
          <a:p>
            <a:pPr algn="l"/>
            <a:r>
              <a:rPr lang="en-US" sz="6600" b="1" dirty="0"/>
              <a:t>Preliminary Design</a:t>
            </a:r>
            <a:endParaRPr lang="en-IN" sz="6600" b="1" dirty="0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BE51BEA6-22B4-07BE-7561-97B599120A2E}"/>
              </a:ext>
            </a:extLst>
          </p:cNvPr>
          <p:cNvSpPr/>
          <p:nvPr/>
        </p:nvSpPr>
        <p:spPr>
          <a:xfrm>
            <a:off x="403649" y="502276"/>
            <a:ext cx="1250101" cy="1666802"/>
          </a:xfrm>
          <a:custGeom>
            <a:avLst/>
            <a:gdLst/>
            <a:ahLst/>
            <a:cxnLst/>
            <a:rect l="l" t="t" r="r" b="b"/>
            <a:pathLst>
              <a:path w="1250101" h="1666802">
                <a:moveTo>
                  <a:pt x="0" y="0"/>
                </a:moveTo>
                <a:lnTo>
                  <a:pt x="1250102" y="0"/>
                </a:lnTo>
                <a:lnTo>
                  <a:pt x="1250102" y="1666802"/>
                </a:lnTo>
                <a:lnTo>
                  <a:pt x="0" y="1666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39E3B8-63DA-38C0-DEBA-C800414A7EEB}"/>
              </a:ext>
            </a:extLst>
          </p:cNvPr>
          <p:cNvSpPr txBox="1"/>
          <p:nvPr/>
        </p:nvSpPr>
        <p:spPr>
          <a:xfrm>
            <a:off x="1447800" y="2705100"/>
            <a:ext cx="74676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Simple, clean, and motivating user interface.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Easy navigation between fitness plans, progress tracking, and daily tips.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⁠Personalized dashboard showing user's fitness journey.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⁠Mobile-friendly and desktop-optimized responsive layout.</a:t>
            </a:r>
            <a:endParaRPr lang="en-IN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52092B-7ACE-2C1E-A467-4842BDA9B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0" y="599801"/>
            <a:ext cx="7287642" cy="861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532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3649" y="502276"/>
            <a:ext cx="1250101" cy="1666802"/>
          </a:xfrm>
          <a:custGeom>
            <a:avLst/>
            <a:gdLst/>
            <a:ahLst/>
            <a:cxnLst/>
            <a:rect l="l" t="t" r="r" b="b"/>
            <a:pathLst>
              <a:path w="1250101" h="1666802">
                <a:moveTo>
                  <a:pt x="0" y="0"/>
                </a:moveTo>
                <a:lnTo>
                  <a:pt x="1250102" y="0"/>
                </a:lnTo>
                <a:lnTo>
                  <a:pt x="1250102" y="1666802"/>
                </a:lnTo>
                <a:lnTo>
                  <a:pt x="0" y="1666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77012" y="2992673"/>
            <a:ext cx="10215362" cy="4418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504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0000"/>
                </a:solidFill>
                <a:ea typeface="Canva Sans"/>
                <a:cs typeface="Canva Sans"/>
                <a:sym typeface="Canva Sans"/>
              </a:rPr>
              <a:t>⁠Personalized AI-driven workout recommendations.</a:t>
            </a:r>
          </a:p>
          <a:p>
            <a:pPr marL="457200" indent="-457200" algn="l">
              <a:lnSpc>
                <a:spcPts val="5040"/>
              </a:lnSpc>
              <a:buFont typeface="Wingdings" panose="05000000000000000000" pitchFamily="2" charset="2"/>
              <a:buChar char="q"/>
            </a:pPr>
            <a:endParaRPr lang="en-US" sz="2800" dirty="0">
              <a:solidFill>
                <a:srgbClr val="000000"/>
              </a:solidFill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504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0000"/>
                </a:solidFill>
                <a:ea typeface="Canva Sans"/>
                <a:cs typeface="Canva Sans"/>
                <a:sym typeface="Canva Sans"/>
              </a:rPr>
              <a:t>⁠Mood tracking integrated with fitness activities.</a:t>
            </a:r>
          </a:p>
          <a:p>
            <a:pPr marL="457200" indent="-457200" algn="l">
              <a:lnSpc>
                <a:spcPts val="5040"/>
              </a:lnSpc>
              <a:buFont typeface="Wingdings" panose="05000000000000000000" pitchFamily="2" charset="2"/>
              <a:buChar char="q"/>
            </a:pPr>
            <a:endParaRPr lang="en-US" sz="2800" dirty="0">
              <a:solidFill>
                <a:srgbClr val="000000"/>
              </a:solidFill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504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0000"/>
                </a:solidFill>
                <a:ea typeface="Canva Sans"/>
                <a:cs typeface="Canva Sans"/>
                <a:sym typeface="Canva Sans"/>
              </a:rPr>
              <a:t>⁠Real-time progress tracking with visual analytics.</a:t>
            </a:r>
          </a:p>
          <a:p>
            <a:pPr marL="457200" indent="-457200" algn="l">
              <a:lnSpc>
                <a:spcPts val="5040"/>
              </a:lnSpc>
              <a:buFont typeface="Wingdings" panose="05000000000000000000" pitchFamily="2" charset="2"/>
              <a:buChar char="q"/>
            </a:pPr>
            <a:endParaRPr lang="en-US" sz="2800" dirty="0">
              <a:solidFill>
                <a:srgbClr val="000000"/>
              </a:solidFill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504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0000"/>
                </a:solidFill>
                <a:ea typeface="Canva Sans"/>
                <a:cs typeface="Canva Sans"/>
                <a:sym typeface="Canva Sans"/>
              </a:rPr>
              <a:t>⁠Voice-assisted coaching and motivational prompts.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91208" y="903126"/>
            <a:ext cx="15893143" cy="1052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680"/>
              </a:lnSpc>
            </a:pPr>
            <a:r>
              <a:rPr lang="en-US" sz="6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Analysis of Features</a:t>
            </a:r>
          </a:p>
        </p:txBody>
      </p:sp>
      <p:pic>
        <p:nvPicPr>
          <p:cNvPr id="2050" name="Picture 2" descr="Features Images - Free Download on Freepik">
            <a:extLst>
              <a:ext uri="{FF2B5EF4-FFF2-40B4-BE49-F238E27FC236}">
                <a16:creationId xmlns:a16="http://schemas.microsoft.com/office/drawing/2014/main" id="{365008CF-24F9-2A3E-8A31-0A664F1B8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0" y="2220575"/>
            <a:ext cx="5962650" cy="596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1271" y="125668"/>
            <a:ext cx="1250101" cy="1666802"/>
          </a:xfrm>
          <a:custGeom>
            <a:avLst/>
            <a:gdLst/>
            <a:ahLst/>
            <a:cxnLst/>
            <a:rect l="l" t="t" r="r" b="b"/>
            <a:pathLst>
              <a:path w="1250101" h="1666802">
                <a:moveTo>
                  <a:pt x="0" y="0"/>
                </a:moveTo>
                <a:lnTo>
                  <a:pt x="1250102" y="0"/>
                </a:lnTo>
                <a:lnTo>
                  <a:pt x="1250102" y="1666802"/>
                </a:lnTo>
                <a:lnTo>
                  <a:pt x="0" y="1666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2590800" y="359642"/>
            <a:ext cx="15893143" cy="1052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 and outputs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F2EB78-7E0B-05A6-5B77-921952E7A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229" y="1411837"/>
            <a:ext cx="14481688" cy="81459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5373E2-BF8E-E2E7-4146-B2069A52F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37572"/>
            <a:ext cx="8430802" cy="88118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2EE7C3-3411-E0B6-AFE0-F2BCC2E88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737572"/>
            <a:ext cx="7388942" cy="8862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748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92CF9F-032A-E79A-A50F-F33177449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45" y="571500"/>
            <a:ext cx="17493510" cy="891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209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3649" y="502276"/>
            <a:ext cx="1250101" cy="1666802"/>
          </a:xfrm>
          <a:custGeom>
            <a:avLst/>
            <a:gdLst/>
            <a:ahLst/>
            <a:cxnLst/>
            <a:rect l="l" t="t" r="r" b="b"/>
            <a:pathLst>
              <a:path w="1250101" h="1666802">
                <a:moveTo>
                  <a:pt x="0" y="0"/>
                </a:moveTo>
                <a:lnTo>
                  <a:pt x="1250102" y="0"/>
                </a:lnTo>
                <a:lnTo>
                  <a:pt x="1250102" y="1666802"/>
                </a:lnTo>
                <a:lnTo>
                  <a:pt x="0" y="1666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-2971800" y="2026602"/>
            <a:ext cx="15893143" cy="1052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5AB7D6-E1ED-8B71-3AE5-4A3BD55BB3C8}"/>
              </a:ext>
            </a:extLst>
          </p:cNvPr>
          <p:cNvSpPr txBox="1"/>
          <p:nvPr/>
        </p:nvSpPr>
        <p:spPr>
          <a:xfrm>
            <a:off x="2667000" y="3619500"/>
            <a:ext cx="11452650" cy="411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800" dirty="0"/>
              <a:t>FitMind AI revolutionizes personalized fitness and mental wellness.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800" dirty="0"/>
              <a:t>⁠Smart integration of AI enhances user engagement and motivation.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800" dirty="0"/>
              <a:t>⁠Blends fitness tracking, mood analysis, and real-time coaching seamlessly.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800" dirty="0"/>
              <a:t>⁠Poised to become a trusted companion for healthier, balanced lifestyles.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3649" y="502276"/>
            <a:ext cx="1250101" cy="1666802"/>
          </a:xfrm>
          <a:custGeom>
            <a:avLst/>
            <a:gdLst/>
            <a:ahLst/>
            <a:cxnLst/>
            <a:rect l="l" t="t" r="r" b="b"/>
            <a:pathLst>
              <a:path w="1250101" h="1666802">
                <a:moveTo>
                  <a:pt x="0" y="0"/>
                </a:moveTo>
                <a:lnTo>
                  <a:pt x="1250102" y="0"/>
                </a:lnTo>
                <a:lnTo>
                  <a:pt x="1250102" y="1666802"/>
                </a:lnTo>
                <a:lnTo>
                  <a:pt x="0" y="1666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-838200" y="1891095"/>
            <a:ext cx="15893143" cy="1052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Scope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9200" y="3619500"/>
            <a:ext cx="16525042" cy="44184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504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⁠Introduce personalized AI-driven workout and therapy plans.</a:t>
            </a:r>
          </a:p>
          <a:p>
            <a:pPr marL="457200" indent="-457200" algn="just">
              <a:lnSpc>
                <a:spcPts val="504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sz="2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just">
              <a:lnSpc>
                <a:spcPts val="504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⁠Enable group challenges and community-driven motivation features.</a:t>
            </a:r>
          </a:p>
          <a:p>
            <a:pPr marL="457200" indent="-457200" algn="just">
              <a:lnSpc>
                <a:spcPts val="504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sz="2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just">
              <a:lnSpc>
                <a:spcPts val="504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⁠Incorporate advanced mental health analytics and early warning systems.</a:t>
            </a:r>
          </a:p>
          <a:p>
            <a:pPr marL="457200" indent="-457200" algn="just">
              <a:lnSpc>
                <a:spcPts val="504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sz="2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just">
              <a:lnSpc>
                <a:spcPts val="504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⁠Expand integration with wearable devices and health platforms (Fitbit, Apple Health, etc.).</a:t>
            </a:r>
          </a:p>
        </p:txBody>
      </p:sp>
      <p:pic>
        <p:nvPicPr>
          <p:cNvPr id="3076" name="Picture 4" descr="20,400+ Project Scope Stock Photos, Pictures &amp; Royalty-Free Images - iStock  | Project scope icon">
            <a:extLst>
              <a:ext uri="{FF2B5EF4-FFF2-40B4-BE49-F238E27FC236}">
                <a16:creationId xmlns:a16="http://schemas.microsoft.com/office/drawing/2014/main" id="{041269CB-8E6C-6D68-D56A-B414998E3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9800" y="1212754"/>
            <a:ext cx="3902880" cy="2984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3649" y="502276"/>
            <a:ext cx="1250101" cy="1666802"/>
          </a:xfrm>
          <a:custGeom>
            <a:avLst/>
            <a:gdLst/>
            <a:ahLst/>
            <a:cxnLst/>
            <a:rect l="l" t="t" r="r" b="b"/>
            <a:pathLst>
              <a:path w="1250101" h="1666802">
                <a:moveTo>
                  <a:pt x="0" y="0"/>
                </a:moveTo>
                <a:lnTo>
                  <a:pt x="1250102" y="0"/>
                </a:lnTo>
                <a:lnTo>
                  <a:pt x="1250102" y="1666802"/>
                </a:lnTo>
                <a:lnTo>
                  <a:pt x="0" y="1666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97428" y="2169078"/>
            <a:ext cx="15893143" cy="1052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References: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97D5F-1F99-4EED-3A29-2538C0C2FBB2}"/>
              </a:ext>
            </a:extLst>
          </p:cNvPr>
          <p:cNvSpPr txBox="1"/>
          <p:nvPr/>
        </p:nvSpPr>
        <p:spPr>
          <a:xfrm>
            <a:off x="772360" y="3771900"/>
            <a:ext cx="175033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[1] Smith, J. (2022). Personalized exercise programs and their effects on fitness outcomes. Journal of Health and Fitness Research</a:t>
            </a:r>
          </a:p>
          <a:p>
            <a:br>
              <a:rPr lang="en-US" sz="2400" dirty="0"/>
            </a:br>
            <a:r>
              <a:rPr lang="en-US" sz="2400" dirty="0"/>
              <a:t> [2] Johnson, A. (2023). Exploring the role of AI in modern fitness applications. International Journal of Artificial Intelligence in Healthcare.</a:t>
            </a:r>
          </a:p>
          <a:p>
            <a:br>
              <a:rPr lang="en-US" sz="2400" dirty="0"/>
            </a:br>
            <a:r>
              <a:rPr lang="en-US" sz="2400" dirty="0"/>
              <a:t> [3] Lee, B. (2021). Development of age-specific exercise recommendation systems. Proceedings of ACM HealthTech.</a:t>
            </a:r>
          </a:p>
          <a:p>
            <a:br>
              <a:rPr lang="en-US" sz="2400" dirty="0"/>
            </a:br>
            <a:r>
              <a:rPr lang="en-US" sz="2400" dirty="0"/>
              <a:t> [4] Gupta, R. (2022). Leveraging yoga and technology for emotional well-being. Yoga Science and Research Journal.</a:t>
            </a:r>
          </a:p>
          <a:p>
            <a:br>
              <a:rPr lang="en-US" sz="2400" dirty="0"/>
            </a:br>
            <a:r>
              <a:rPr lang="en-US" sz="2400" dirty="0"/>
              <a:t> [5] Patel, S. (2020). Utilization of machine learning models in healthcare recommendation engines. Procedia Computer Science</a:t>
            </a:r>
          </a:p>
          <a:p>
            <a:br>
              <a:rPr lang="en-US" sz="2400" dirty="0"/>
            </a:br>
            <a:r>
              <a:rPr lang="en-US" sz="2400" dirty="0"/>
              <a:t> [6] Kumar, S. (2021). Predictive analysis techniques in healthcare-focused fitness systems. Journal of Medical Informatics.</a:t>
            </a:r>
            <a:br>
              <a:rPr lang="en-US" sz="2400" dirty="0"/>
            </a:br>
            <a:endParaRPr lang="en-IN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C8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89933">
            <a:off x="9123851" y="5054651"/>
            <a:ext cx="14137421" cy="7068710"/>
          </a:xfrm>
          <a:custGeom>
            <a:avLst/>
            <a:gdLst/>
            <a:ahLst/>
            <a:cxnLst/>
            <a:rect l="l" t="t" r="r" b="b"/>
            <a:pathLst>
              <a:path w="14137421" h="7068710">
                <a:moveTo>
                  <a:pt x="0" y="0"/>
                </a:moveTo>
                <a:lnTo>
                  <a:pt x="14137421" y="0"/>
                </a:lnTo>
                <a:lnTo>
                  <a:pt x="14137421" y="7068711"/>
                </a:lnTo>
                <a:lnTo>
                  <a:pt x="0" y="7068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2877035">
            <a:off x="15647219" y="8611403"/>
            <a:ext cx="5045928" cy="3351194"/>
            <a:chOff x="0" y="0"/>
            <a:chExt cx="1328969" cy="8826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28969" cy="882619"/>
            </a:xfrm>
            <a:custGeom>
              <a:avLst/>
              <a:gdLst/>
              <a:ahLst/>
              <a:cxnLst/>
              <a:rect l="l" t="t" r="r" b="b"/>
              <a:pathLst>
                <a:path w="1328969" h="882619">
                  <a:moveTo>
                    <a:pt x="0" y="0"/>
                  </a:moveTo>
                  <a:lnTo>
                    <a:pt x="1328969" y="0"/>
                  </a:lnTo>
                  <a:lnTo>
                    <a:pt x="1328969" y="882619"/>
                  </a:lnTo>
                  <a:lnTo>
                    <a:pt x="0" y="882619"/>
                  </a:lnTo>
                  <a:close/>
                </a:path>
              </a:pathLst>
            </a:custGeom>
            <a:solidFill>
              <a:srgbClr val="C6302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28969" cy="9207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486400" y="3620362"/>
            <a:ext cx="7315200" cy="3670900"/>
          </a:xfrm>
          <a:custGeom>
            <a:avLst/>
            <a:gdLst/>
            <a:ahLst/>
            <a:cxnLst/>
            <a:rect l="l" t="t" r="r" b="b"/>
            <a:pathLst>
              <a:path w="7315200" h="3670900">
                <a:moveTo>
                  <a:pt x="0" y="0"/>
                </a:moveTo>
                <a:lnTo>
                  <a:pt x="7315200" y="0"/>
                </a:lnTo>
                <a:lnTo>
                  <a:pt x="7315200" y="3670900"/>
                </a:lnTo>
                <a:lnTo>
                  <a:pt x="0" y="367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781</Words>
  <Application>Microsoft Office PowerPoint</Application>
  <PresentationFormat>Custom</PresentationFormat>
  <Paragraphs>134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Canva Sans</vt:lpstr>
      <vt:lpstr>Canva Sans Italics</vt:lpstr>
      <vt:lpstr>Canva Sans Bold</vt:lpstr>
      <vt:lpstr>Arial</vt:lpstr>
      <vt:lpstr>Montserrat Light</vt:lpstr>
      <vt:lpstr>Wingdings</vt:lpstr>
      <vt:lpstr>Roboto</vt:lpstr>
      <vt:lpstr>Times New Roman</vt:lpstr>
      <vt:lpstr>Calibri</vt:lpstr>
      <vt:lpstr>Norwester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Preliminary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Neurapad_Masi</dc:title>
  <dc:creator>Kiran Inta</dc:creator>
  <cp:lastModifiedBy>kiran inta</cp:lastModifiedBy>
  <cp:revision>2</cp:revision>
  <dcterms:created xsi:type="dcterms:W3CDTF">2006-08-16T00:00:00Z</dcterms:created>
  <dcterms:modified xsi:type="dcterms:W3CDTF">2025-04-29T10:19:02Z</dcterms:modified>
  <dc:identifier>DAGl3FD_e_Q</dc:identifier>
</cp:coreProperties>
</file>